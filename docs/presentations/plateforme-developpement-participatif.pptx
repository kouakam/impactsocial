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Aujourd'hui, je vais vous présenter notre projet de plateforme de développement participatif local. Cette plateforme vise à créer un pont numérique entre les citoyens, les associations et les collectivités territoriales pour co-construire des projets qui transforment réellement nos territoires.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contexte est clair : nous observons un décalage entre l'envie des citoyens de s'engager dans la vie locale et les moyens mis à leur disposition. Les associations locales font un travail remarquable mais manquent de visibilité. De leur côté, les collectivités territoriales sont à la recherche de nouvelles formes de participation citoyenne plus efficaces et authentiques.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vision est simple mais ambitieuse : nous voulons démocratiser l'accès aux projets de développement local en créant une plateforme où chaque acteur - citoyen, association, collectivité - peut trouver sa place, contribuer à sa manière, et voir l'impact concret de son engagement.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plateforme offre cinq grandes catégories de fonctionnalités. D'abord, une cartographie interactive qui permet de visualiser tous les projets en cours sur le territoire. Ensuite, un système de proposition où les citoyens peuvent soumettre leurs idées et voter pour celles qui les intéressent. Des outils collaboratifs permettent ensuite de gérer les projets de A à Z. Un tableau de bord mesure l'impact social de chaque initiative. Et enfin, des espaces personnalisés pour les associations et les collectivités.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un citoyen, le parcours est pensé pour être simple et motivant. Il commence par découvrir les projets actifs dans son quartier ou sa ville. S'il a une idée, il peut la proposer facilement. Il peut aussi rejoindre des projets qui l'intéressent et contribuer de différentes manières : donner de son temps, partager son expertise, ou même mobiliser des ressources. Et surtout, il peut suivre en temps réel l'impact de ses contributions.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les associations, la plateforme devient un véritable outil de gestion et de mobilisation. Elles peuvent créer leurs projets, les rendre visibles auprès d'une large communauté, recruter des bénévoles qualifiés, gérer efficacement les contributions, mesurer leur impact social de manière objective, et ainsi augmenter leur visibilité et leur capacité à obtenir du soutien.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collectivités territoriales trouvent dans cette plateforme un outil stratégique pour renforcer la démocratie participative. Elles peuvent lancer des consultations, identifier et soutenir les projets les plus pertinents, suivre en temps réel l'engagement citoyen, comprendre les vrais besoins de leurs administrés grâce aux données, et améliorer leur communication sur les politiques publiques mises en œuvre.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 le plan technique, nous avons opté pour une architecture moderne basée sur des microservices, ce qui garantit la scalabilité et la maintenabilité de la solution. Nous utilisons des API REST et GraphQL pour la flexibilité des échanges de données. Notre stack combine bases de données relationnelles pour la cohérence des données et NoSQL pour la performance. La sécurité est au cœur du système avec un système d'authentification robuste. Et l'interface est entièrement responsive pour fonctionner sur tous les supports.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mesure de l'impact social est un élément différenciant de notre plateforme. Nous ne nous contentons pas de compter les participants. Nous mesurons des indicateurs quantitatifs comme le nombre de personnes engagées, les heures de bénévolat, les ressources mobilisées. Mais aussi des indicateurs qualitatifs sur la satisfaction et le sentiment d'appartenance. Nous avons aligné notre système de mesure sur les Objectifs de Développement Durable de l'ONU. Chaque acteur dispose de tableaux de bord personnalisables et peut générer des rapports d'impact automatiquement.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modèle économique se veut éthique et inclusif. La plateforme est totalement gratuite pour les citoyens et les petites associations. Les associations de taille moyenne peuvent souscrire à un abonnement adapté à leurs besoins. Les collectivités territoriales bénéficient de licences dont le coût est proportionnel à la taille de leur population. Nous proposons également des services premium comme la formation, l'accompagnement et la personnalisation de la plateforme. Enfin, nous développons des partenariats avec les acteurs de l'économie sociale et solidaire.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feuille de route est ambitieuse mais réaliste. Dans les trois premiers mois, nous livrerons un MVP avec les fonctionnalités essentielles pour tester le concept. À six mois, nous enrichirons la plateforme avec des outils collaboratifs avancés. À un an, nous visons un déploiement à l'échelle nationale et une première internationalisation. À 18 mois, nous intégrerons l'intelligence artificielle pour des recommandations personnalisées. Et tout au long du projet, nous adopterons une approche d'amélioration continue basée sur les retours de nos utilisateurs.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succès repose sur une équipe aux compétences complémentaires. Nous avons des développeurs experts en technologies web et mobile. Des spécialistes de la participation citoyenne qui connaissent les enjeux de terrain. Des designers UX/UI qui placent l'utilisateur au centre de chaque décision. Des experts en mesure d'impact social pour garantir la pertinence de nos indicateurs. Et surtout, un large réseau de partenaires associatifs et institutionnels qui nous accompagnent et nous conseillent.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mené des tests pilotes dans trois communes de tailles différentes. En seulement deux mois, nous avons atteint plus de 500 utilisateurs actifs, avec 45 projets concrets lancés ou soutenus via la plateforme. Le taux de satisfaction utilisateur s'élève à 85%, et les collectivités partenaires observent une augmentation de 60% de la participation citoyenne comparé aux dispositifs traditionnels. Ces premiers résultats valident notre approche et nous encouragent à accélérer.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cette plateforme de développement participatif local n'est pas qu'un outil technologique. C'est un projet au service de l'intérêt général, un catalyseur pour transformer positivement nos territoires. Nous vous invitons à nous rejoindre dans cette aventure, que vous soyez une collectivité, une association, un investisseur ou simplement un citoyen engagé. Nous sommes ouverts aux partenariats et aux discussions sur l'investissement. Une démo de la plateforme est disponible, et notre programme pilote est ouvert aux nouvelles collectivités volontaires. Ensemble, faisons de la participation citoyenne une réalité concrète et efficace.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vous remercie pour votre attention. N'hésitez pas à nous contacter via notre site web ou par email. Nous sommes également actifs sur les réseaux sociaux et notre code est open source sur GitHub. Je suis maintenant à votre disposition pour répondre à toutes vos questions et échanger avec vous sur ce projet.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Plateforme de Développement Participatif Local</a:t>
            </a:r>
          </a:p>
        </p:txBody>
      </p:sp>
      <p:sp>
        <p:nvSpPr>
          <p:cNvPr id="3" name="Subtitle 2"/>
          <p:cNvSpPr>
            <a:spLocks noGrp="1"/>
          </p:cNvSpPr>
          <p:nvPr>
            <p:ph type="subTitle" idx="1"/>
          </p:nvPr>
        </p:nvSpPr>
        <p:spPr/>
        <p:txBody>
          <a:bodyPr/>
          <a:lstStyle/>
          <a:p>
            <a:r>
              <a:t>Connecter les citoyens, associations et collectivités pour transformer les territoires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Pourquoi cette plateforme ?</a:t>
            </a:r>
          </a:p>
        </p:txBody>
      </p:sp>
      <p:sp>
        <p:nvSpPr>
          <p:cNvPr id="3" name="Content Placeholder 2"/>
          <p:cNvSpPr>
            <a:spLocks noGrp="1"/>
          </p:cNvSpPr>
          <p:nvPr>
            <p:ph idx="1"/>
          </p:nvPr>
        </p:nvSpPr>
        <p:spPr/>
        <p:txBody>
          <a:bodyPr/>
          <a:lstStyle/>
          <a:p>
            <a:pPr>
              <a:defRPr sz="1800"/>
            </a:pPr>
            <a:r>
              <a:t>Les citoyens souhaitent s'engager mais manquent d'outils adaptés</a:t>
            </a:r>
          </a:p>
          <a:p>
            <a:pPr>
              <a:defRPr sz="1800"/>
            </a:pPr>
            <a:r>
              <a:t>Les associations peinent à mobiliser et à valoriser leurs actions</a:t>
            </a:r>
          </a:p>
          <a:p>
            <a:pPr>
              <a:defRPr sz="1800"/>
            </a:pPr>
            <a:r>
              <a:t>Les collectivités cherchent à renforcer la participation citoyenne</a:t>
            </a:r>
          </a:p>
          <a:p>
            <a:pPr>
              <a:defRPr sz="1800"/>
            </a:pPr>
            <a:r>
              <a:t>Besoin d'une solution centralisée et collaborative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Notre vision du développement participatif</a:t>
            </a:r>
          </a:p>
        </p:txBody>
      </p:sp>
      <p:sp>
        <p:nvSpPr>
          <p:cNvPr id="3" name="Content Placeholder 2"/>
          <p:cNvSpPr>
            <a:spLocks noGrp="1"/>
          </p:cNvSpPr>
          <p:nvPr>
            <p:ph idx="1"/>
          </p:nvPr>
        </p:nvSpPr>
        <p:spPr/>
        <p:txBody>
          <a:bodyPr/>
          <a:lstStyle/>
          <a:p>
            <a:pPr>
              <a:defRPr sz="1800"/>
            </a:pPr>
            <a:r>
              <a:t>Démocratiser l'accès aux projets locaux</a:t>
            </a:r>
          </a:p>
          <a:p>
            <a:pPr>
              <a:defRPr sz="1800"/>
            </a:pPr>
            <a:r>
              <a:t>Faciliter la collaboration entre tous les acteurs</a:t>
            </a:r>
          </a:p>
          <a:p>
            <a:pPr>
              <a:defRPr sz="1800"/>
            </a:pPr>
            <a:r>
              <a:t>Valoriser l'impact social des initiatives</a:t>
            </a:r>
          </a:p>
          <a:p>
            <a:pPr>
              <a:defRPr sz="1800"/>
            </a:pPr>
            <a:r>
              <a:t>Créer une dynamique territoriale positive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 que propose la plateforme</a:t>
            </a:r>
          </a:p>
        </p:txBody>
      </p:sp>
      <p:sp>
        <p:nvSpPr>
          <p:cNvPr id="3" name="Content Placeholder 2"/>
          <p:cNvSpPr>
            <a:spLocks noGrp="1"/>
          </p:cNvSpPr>
          <p:nvPr>
            <p:ph idx="1"/>
          </p:nvPr>
        </p:nvSpPr>
        <p:spPr/>
        <p:txBody>
          <a:bodyPr/>
          <a:lstStyle/>
          <a:p>
            <a:pPr>
              <a:defRPr sz="1800"/>
            </a:pPr>
            <a:r>
              <a:t>Cartographie interactive des projets locaux</a:t>
            </a:r>
          </a:p>
          <a:p>
            <a:pPr>
              <a:defRPr sz="1800"/>
            </a:pPr>
            <a:r>
              <a:t>Système de propositions et de votes citoyens</a:t>
            </a:r>
          </a:p>
          <a:p>
            <a:pPr>
              <a:defRPr sz="1800"/>
            </a:pPr>
            <a:r>
              <a:t>Outils de collaboration et de gestion de projets</a:t>
            </a:r>
          </a:p>
          <a:p>
            <a:pPr>
              <a:defRPr sz="1800"/>
            </a:pPr>
            <a:r>
              <a:t>Tableau de bord d'impact social</a:t>
            </a:r>
          </a:p>
          <a:p>
            <a:pPr>
              <a:defRPr sz="1800"/>
            </a:pPr>
            <a:r>
              <a:t>Espaces dédiés pour associations et collectivités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 parcours du citoyen engagé</a:t>
            </a:r>
          </a:p>
        </p:txBody>
      </p:sp>
      <p:sp>
        <p:nvSpPr>
          <p:cNvPr id="3" name="Content Placeholder 2"/>
          <p:cNvSpPr>
            <a:spLocks noGrp="1"/>
          </p:cNvSpPr>
          <p:nvPr>
            <p:ph idx="1"/>
          </p:nvPr>
        </p:nvSpPr>
        <p:spPr/>
        <p:txBody>
          <a:bodyPr/>
          <a:lstStyle/>
          <a:p>
            <a:pPr>
              <a:defRPr sz="1800"/>
            </a:pPr>
            <a:r>
              <a:t>Découvrir les projets près de chez soi</a:t>
            </a:r>
          </a:p>
          <a:p>
            <a:pPr>
              <a:defRPr sz="1800"/>
            </a:pPr>
            <a:r>
              <a:t>Proposer une nouvelle idée de projet</a:t>
            </a:r>
          </a:p>
          <a:p>
            <a:pPr>
              <a:defRPr sz="1800"/>
            </a:pPr>
            <a:r>
              <a:t>Rejoindre un projet existant</a:t>
            </a:r>
          </a:p>
          <a:p>
            <a:pPr>
              <a:defRPr sz="1800"/>
            </a:pPr>
            <a:r>
              <a:t>Contribuer selon ses compétences (temps, expertise, ressources)</a:t>
            </a:r>
          </a:p>
          <a:p>
            <a:pPr>
              <a:defRPr sz="1800"/>
            </a:pPr>
            <a:r>
              <a:t>Suivre l'impact de ses contributions</a:t>
            </a:r>
          </a:p>
          <a:p>
            <a:pPr>
              <a:defRPr sz="1800"/>
            </a:pPr>
            <a:r>
              <a:t>Placeholder : Schéma du parcours citoyen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 parcours de l'association</a:t>
            </a:r>
          </a:p>
        </p:txBody>
      </p:sp>
      <p:sp>
        <p:nvSpPr>
          <p:cNvPr id="3" name="Content Placeholder 2"/>
          <p:cNvSpPr>
            <a:spLocks noGrp="1"/>
          </p:cNvSpPr>
          <p:nvPr>
            <p:ph idx="1"/>
          </p:nvPr>
        </p:nvSpPr>
        <p:spPr/>
        <p:txBody>
          <a:bodyPr/>
          <a:lstStyle/>
          <a:p>
            <a:pPr>
              <a:defRPr sz="1800"/>
            </a:pPr>
            <a:r>
              <a:t>Créer et publier un projet</a:t>
            </a:r>
          </a:p>
          <a:p>
            <a:pPr>
              <a:defRPr sz="1800"/>
            </a:pPr>
            <a:r>
              <a:t>Recruter des bénévoles et mobiliser des ressources</a:t>
            </a:r>
          </a:p>
          <a:p>
            <a:pPr>
              <a:defRPr sz="1800"/>
            </a:pPr>
            <a:r>
              <a:t>Gérer les activités et les contributions</a:t>
            </a:r>
          </a:p>
          <a:p>
            <a:pPr>
              <a:defRPr sz="1800"/>
            </a:pPr>
            <a:r>
              <a:t>Mesurer et communiquer l'impact</a:t>
            </a:r>
          </a:p>
          <a:p>
            <a:pPr>
              <a:defRPr sz="1800"/>
            </a:pPr>
            <a:r>
              <a:t>Obtenir de la visibilité et du soutien</a:t>
            </a:r>
          </a:p>
          <a:p>
            <a:pPr>
              <a:defRPr sz="1800"/>
            </a:pPr>
            <a:r>
              <a:t>Placeholder : Schéma du parcours association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 parcours de la collectivité territoriale</a:t>
            </a:r>
          </a:p>
        </p:txBody>
      </p:sp>
      <p:sp>
        <p:nvSpPr>
          <p:cNvPr id="3" name="Content Placeholder 2"/>
          <p:cNvSpPr>
            <a:spLocks noGrp="1"/>
          </p:cNvSpPr>
          <p:nvPr>
            <p:ph idx="1"/>
          </p:nvPr>
        </p:nvSpPr>
        <p:spPr/>
        <p:txBody>
          <a:bodyPr/>
          <a:lstStyle/>
          <a:p>
            <a:pPr>
              <a:defRPr sz="1800"/>
            </a:pPr>
            <a:r>
              <a:t>Lancer des consultations citoyennes</a:t>
            </a:r>
          </a:p>
          <a:p>
            <a:pPr>
              <a:defRPr sz="1800"/>
            </a:pPr>
            <a:r>
              <a:t>Soutenir et financer des projets locaux</a:t>
            </a:r>
          </a:p>
          <a:p>
            <a:pPr>
              <a:defRPr sz="1800"/>
            </a:pPr>
            <a:r>
              <a:t>Suivre l'engagement citoyen sur le territoire</a:t>
            </a:r>
          </a:p>
          <a:p>
            <a:pPr>
              <a:defRPr sz="1800"/>
            </a:pPr>
            <a:r>
              <a:t>Analyser les besoins et priorités des habitants</a:t>
            </a:r>
          </a:p>
          <a:p>
            <a:pPr>
              <a:defRPr sz="1800"/>
            </a:pPr>
            <a:r>
              <a:t>Communiquer sur les politiques publiques</a:t>
            </a:r>
          </a:p>
          <a:p>
            <a:pPr>
              <a:defRPr sz="1800"/>
            </a:pPr>
            <a:r>
              <a:t>Placeholder : Schéma du parcours collectivité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Une architecture moderne et scalable</a:t>
            </a:r>
          </a:p>
        </p:txBody>
      </p:sp>
      <p:sp>
        <p:nvSpPr>
          <p:cNvPr id="3" name="Content Placeholder 2"/>
          <p:cNvSpPr>
            <a:spLocks noGrp="1"/>
          </p:cNvSpPr>
          <p:nvPr>
            <p:ph idx="1"/>
          </p:nvPr>
        </p:nvSpPr>
        <p:spPr/>
        <p:txBody>
          <a:bodyPr/>
          <a:lstStyle/>
          <a:p>
            <a:pPr>
              <a:defRPr sz="1800"/>
            </a:pPr>
            <a:r>
              <a:t>Architecture microservices</a:t>
            </a:r>
          </a:p>
          <a:p>
            <a:pPr>
              <a:defRPr sz="1800"/>
            </a:pPr>
            <a:r>
              <a:t>API REST et GraphQL</a:t>
            </a:r>
          </a:p>
          <a:p>
            <a:pPr>
              <a:defRPr sz="1800"/>
            </a:pPr>
            <a:r>
              <a:t>Base de données relationnelle et NoSQL</a:t>
            </a:r>
          </a:p>
          <a:p>
            <a:pPr>
              <a:defRPr sz="1800"/>
            </a:pPr>
            <a:r>
              <a:t>Système d'authentification sécurisé</a:t>
            </a:r>
          </a:p>
          <a:p>
            <a:pPr>
              <a:defRPr sz="1800"/>
            </a:pPr>
            <a:r>
              <a:t>Interface responsive (web et mobile)</a:t>
            </a:r>
          </a:p>
          <a:p>
            <a:pPr>
              <a:defRPr sz="1800"/>
            </a:pPr>
            <a:r>
              <a:t>Placeholder : Schéma d'architecture technique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Comment mesurer l'impact social ?</a:t>
            </a:r>
          </a:p>
        </p:txBody>
      </p:sp>
      <p:sp>
        <p:nvSpPr>
          <p:cNvPr id="3" name="Content Placeholder 2"/>
          <p:cNvSpPr>
            <a:spLocks noGrp="1"/>
          </p:cNvSpPr>
          <p:nvPr>
            <p:ph idx="1"/>
          </p:nvPr>
        </p:nvSpPr>
        <p:spPr/>
        <p:txBody>
          <a:bodyPr/>
          <a:lstStyle/>
          <a:p>
            <a:pPr>
              <a:defRPr sz="1800"/>
            </a:pPr>
            <a:r>
              <a:t>Indicateurs quantitatifs (nombre de participants, heures de bénévolat, etc.)</a:t>
            </a:r>
          </a:p>
          <a:p>
            <a:pPr>
              <a:defRPr sz="1800"/>
            </a:pPr>
            <a:r>
              <a:t>Indicateurs qualitatifs (satisfaction, sentiment d'appartenance)</a:t>
            </a:r>
          </a:p>
          <a:p>
            <a:pPr>
              <a:defRPr sz="1800"/>
            </a:pPr>
            <a:r>
              <a:t>Mesure de l'atteinte des objectifs de développement durable (ODD)</a:t>
            </a:r>
          </a:p>
          <a:p>
            <a:pPr>
              <a:defRPr sz="1800"/>
            </a:pPr>
            <a:r>
              <a:t>Tableaux de bord personnalisables</a:t>
            </a:r>
          </a:p>
          <a:p>
            <a:pPr>
              <a:defRPr sz="1800"/>
            </a:pPr>
            <a:r>
              <a:t>Rapports d'impact automatisés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 modèle économique viable et éthique</a:t>
            </a:r>
          </a:p>
        </p:txBody>
      </p:sp>
      <p:sp>
        <p:nvSpPr>
          <p:cNvPr id="3" name="Content Placeholder 2"/>
          <p:cNvSpPr>
            <a:spLocks noGrp="1"/>
          </p:cNvSpPr>
          <p:nvPr>
            <p:ph idx="1"/>
          </p:nvPr>
        </p:nvSpPr>
        <p:spPr/>
        <p:txBody>
          <a:bodyPr/>
          <a:lstStyle/>
          <a:p>
            <a:pPr>
              <a:defRPr sz="1800"/>
            </a:pPr>
            <a:r>
              <a:t>Version gratuite pour citoyens et petites associations</a:t>
            </a:r>
          </a:p>
          <a:p>
            <a:pPr>
              <a:defRPr sz="1800"/>
            </a:pPr>
            <a:r>
              <a:t>Abonnement pour associations de taille moyenne</a:t>
            </a:r>
          </a:p>
          <a:p>
            <a:pPr>
              <a:defRPr sz="1800"/>
            </a:pPr>
            <a:r>
              <a:t>Licence pour collectivités territoriales (selon taille de la population)</a:t>
            </a:r>
          </a:p>
          <a:p>
            <a:pPr>
              <a:defRPr sz="1800"/>
            </a:pPr>
            <a:r>
              <a:t>Services premium : formation, accompagnement, personnalisation</a:t>
            </a:r>
          </a:p>
          <a:p>
            <a:pPr>
              <a:defRPr sz="1800"/>
            </a:pPr>
            <a:r>
              <a:t>Partenariats avec acteurs de l'ESS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Feuille de route du projet</a:t>
            </a:r>
          </a:p>
        </p:txBody>
      </p:sp>
      <p:sp>
        <p:nvSpPr>
          <p:cNvPr id="3" name="Content Placeholder 2"/>
          <p:cNvSpPr>
            <a:spLocks noGrp="1"/>
          </p:cNvSpPr>
          <p:nvPr>
            <p:ph idx="1"/>
          </p:nvPr>
        </p:nvSpPr>
        <p:spPr/>
        <p:txBody>
          <a:bodyPr/>
          <a:lstStyle/>
          <a:p>
            <a:pPr>
              <a:defRPr sz="1800"/>
            </a:pPr>
            <a:r>
              <a:t>Phase 1 (3 mois) : MVP avec fonctionnalités essentielles</a:t>
            </a:r>
          </a:p>
          <a:p>
            <a:pPr>
              <a:defRPr sz="1800"/>
            </a:pPr>
            <a:r>
              <a:t>Phase 2 (6 mois) : Intégration des outils collaboratifs avancés</a:t>
            </a:r>
          </a:p>
          <a:p>
            <a:pPr>
              <a:defRPr sz="1800"/>
            </a:pPr>
            <a:r>
              <a:t>Phase 3 (12 mois) : Déploiement national et internationalisation</a:t>
            </a:r>
          </a:p>
          <a:p>
            <a:pPr>
              <a:defRPr sz="1800"/>
            </a:pPr>
            <a:r>
              <a:t>Phase 4 (18 mois) : Intelligence artificielle et recommandations</a:t>
            </a:r>
          </a:p>
          <a:p>
            <a:pPr>
              <a:defRPr sz="1800"/>
            </a:pPr>
            <a:r>
              <a:t>Amélioration continue basée sur les retours utilisateurs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Une équipe engagée et complémentaire</a:t>
            </a:r>
          </a:p>
        </p:txBody>
      </p:sp>
      <p:sp>
        <p:nvSpPr>
          <p:cNvPr id="3" name="Content Placeholder 2"/>
          <p:cNvSpPr>
            <a:spLocks noGrp="1"/>
          </p:cNvSpPr>
          <p:nvPr>
            <p:ph idx="1"/>
          </p:nvPr>
        </p:nvSpPr>
        <p:spPr/>
        <p:txBody>
          <a:bodyPr/>
          <a:lstStyle/>
          <a:p>
            <a:pPr>
              <a:defRPr sz="1800"/>
            </a:pPr>
            <a:r>
              <a:t>Experts en développement web et mobile</a:t>
            </a:r>
          </a:p>
          <a:p>
            <a:pPr>
              <a:defRPr sz="1800"/>
            </a:pPr>
            <a:r>
              <a:t>Spécialistes de la participation citoyenne</a:t>
            </a:r>
          </a:p>
          <a:p>
            <a:pPr>
              <a:defRPr sz="1800"/>
            </a:pPr>
            <a:r>
              <a:t>Designers UX/UI centrés utilisateur</a:t>
            </a:r>
          </a:p>
          <a:p>
            <a:pPr>
              <a:defRPr sz="1800"/>
            </a:pPr>
            <a:r>
              <a:t>Experts en mesure d'impact social</a:t>
            </a:r>
          </a:p>
          <a:p>
            <a:pPr>
              <a:defRPr sz="1800"/>
            </a:pPr>
            <a:r>
              <a:t>Réseau de partenaires associatifs et institutionnels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 premiers résultats encourageants</a:t>
            </a:r>
          </a:p>
        </p:txBody>
      </p:sp>
      <p:sp>
        <p:nvSpPr>
          <p:cNvPr id="3" name="Content Placeholder 2"/>
          <p:cNvSpPr>
            <a:spLocks noGrp="1"/>
          </p:cNvSpPr>
          <p:nvPr>
            <p:ph idx="1"/>
          </p:nvPr>
        </p:nvSpPr>
        <p:spPr/>
        <p:txBody>
          <a:bodyPr/>
          <a:lstStyle/>
          <a:p>
            <a:pPr>
              <a:defRPr sz="1800"/>
            </a:pPr>
            <a:r>
              <a:t>Test pilote dans 3 communes (5000 à 20000 habitants)</a:t>
            </a:r>
          </a:p>
          <a:p>
            <a:pPr>
              <a:defRPr sz="1800"/>
            </a:pPr>
            <a:r>
              <a:t>Plus de 500 utilisateurs actifs en 2 mois</a:t>
            </a:r>
          </a:p>
          <a:p>
            <a:pPr>
              <a:defRPr sz="1800"/>
            </a:pPr>
            <a:r>
              <a:t>45 projets lancés ou soutenus</a:t>
            </a:r>
          </a:p>
          <a:p>
            <a:pPr>
              <a:defRPr sz="1800"/>
            </a:pPr>
            <a:r>
              <a:t>Taux de satisfaction de 85%</a:t>
            </a:r>
          </a:p>
          <a:p>
            <a:pPr>
              <a:defRPr sz="1800"/>
            </a:pPr>
            <a:r>
              <a:t>Augmentation de 60% de la participation citoyenne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Ensemble, transformons nos territoires</a:t>
            </a:r>
          </a:p>
        </p:txBody>
      </p:sp>
      <p:sp>
        <p:nvSpPr>
          <p:cNvPr id="3" name="Content Placeholder 2"/>
          <p:cNvSpPr>
            <a:spLocks noGrp="1"/>
          </p:cNvSpPr>
          <p:nvPr>
            <p:ph idx="1"/>
          </p:nvPr>
        </p:nvSpPr>
        <p:spPr/>
        <p:txBody>
          <a:bodyPr/>
          <a:lstStyle/>
          <a:p>
            <a:pPr>
              <a:defRPr sz="1800"/>
            </a:pPr>
            <a:r>
              <a:t>Une plateforme au service de l'intérêt général</a:t>
            </a:r>
          </a:p>
          <a:p>
            <a:pPr>
              <a:defRPr sz="1800"/>
            </a:pPr>
            <a:r>
              <a:t>Rejoignez-nous pour co-construire l'avenir</a:t>
            </a:r>
          </a:p>
          <a:p>
            <a:pPr>
              <a:defRPr sz="1800"/>
            </a:pPr>
            <a:r>
              <a:t>Opportunités de partenariat et d'investissement</a:t>
            </a:r>
          </a:p>
          <a:p>
            <a:pPr>
              <a:defRPr sz="1800"/>
            </a:pPr>
            <a:r>
              <a:t>Démo disponible et programme pilote ouvert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Restons en contact</a:t>
            </a:r>
          </a:p>
        </p:txBody>
      </p:sp>
      <p:sp>
        <p:nvSpPr>
          <p:cNvPr id="3" name="Content Placeholder 2"/>
          <p:cNvSpPr>
            <a:spLocks noGrp="1"/>
          </p:cNvSpPr>
          <p:nvPr>
            <p:ph idx="1"/>
          </p:nvPr>
        </p:nvSpPr>
        <p:spPr/>
        <p:txBody>
          <a:bodyPr/>
          <a:lstStyle/>
          <a:p>
            <a:pPr>
              <a:defRPr sz="1800"/>
            </a:pPr>
            <a:r>
              <a:t>Site web : www.impactsocial.fr (exemple)</a:t>
            </a:r>
          </a:p>
          <a:p>
            <a:pPr>
              <a:defRPr sz="1800"/>
            </a:pPr>
            <a:r>
              <a:t>Email : contact@impactsocial.fr</a:t>
            </a:r>
          </a:p>
          <a:p>
            <a:pPr>
              <a:defRPr sz="1800"/>
            </a:pPr>
            <a:r>
              <a:t>Réseaux sociaux : LinkedIn, Twitter, Facebook</a:t>
            </a:r>
          </a:p>
          <a:p>
            <a:pPr>
              <a:defRPr sz="1800"/>
            </a:pPr>
            <a:r>
              <a:t>GitHub : github.com/kouakam/ImpactSocial</a:t>
            </a:r>
          </a:p>
          <a:p>
            <a:pPr>
              <a:defRPr sz="1800"/>
            </a:pPr>
            <a:r>
              <a:t>Questions et échanges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